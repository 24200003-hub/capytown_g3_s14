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1675"/>
  <p:notesSz cx="6858000" cy="12191675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Presentar el reto como un sistema autónomo que usa el LiDAR para tomar decisiones en tiempo real.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0B0F14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2"/>
          <p:cNvCxnSpPr/>
          <p:nvPr/>
        </p:nvCxnSpPr>
        <p:spPr>
          <a:xfrm>
            <a:off x="548640" y="6510528"/>
            <a:ext cx="11064240" cy="0"/>
          </a:xfrm>
          <a:prstGeom prst="straightConnector1">
            <a:avLst/>
          </a:prstGeom>
          <a:noFill/>
          <a:ln cap="flat" cmpd="sng" w="9525">
            <a:solidFill>
              <a:srgbClr val="1FB6A6">
                <a:alpha val="7019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4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685800" y="6858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4200"/>
              <a:buFont typeface="Play"/>
              <a:buNone/>
            </a:pPr>
            <a:r>
              <a:rPr b="1" i="0" lang="en-US" sz="42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Nuevo Reto 3</a:t>
            </a:r>
            <a:endParaRPr b="0" i="0" sz="4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713232" y="1389888"/>
            <a:ext cx="58521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Navegación autónoma con LiDAR en CapyTown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731520" y="1874520"/>
            <a:ext cx="2926080" cy="310896"/>
          </a:xfrm>
          <a:prstGeom prst="rect">
            <a:avLst/>
          </a:prstGeom>
          <a:solidFill>
            <a:srgbClr val="10161D">
              <a:alpha val="94901"/>
            </a:srgbClr>
          </a:solidFill>
          <a:ln cap="flat" cmpd="sng" w="9525">
            <a:solidFill>
              <a:srgbClr val="F7D46A">
                <a:alpha val="6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Yahboom · ROS2 · /scan → /cmd_vel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537960" y="658368"/>
            <a:ext cx="4937760" cy="5074920"/>
          </a:xfrm>
          <a:prstGeom prst="roundRect">
            <a:avLst>
              <a:gd fmla="val 1481" name="adj"/>
            </a:avLst>
          </a:prstGeom>
          <a:solidFill>
            <a:srgbClr val="10161D"/>
          </a:solidFill>
          <a:ln cap="flat" cmpd="sng" w="12700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" name="Google Shape;24;p4"/>
          <p:cNvCxnSpPr/>
          <p:nvPr/>
        </p:nvCxnSpPr>
        <p:spPr>
          <a:xfrm>
            <a:off x="6858000" y="1042416"/>
            <a:ext cx="429768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4"/>
          <p:cNvCxnSpPr/>
          <p:nvPr/>
        </p:nvCxnSpPr>
        <p:spPr>
          <a:xfrm>
            <a:off x="11155680" y="1042416"/>
            <a:ext cx="0" cy="4306824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4"/>
          <p:cNvCxnSpPr/>
          <p:nvPr/>
        </p:nvCxnSpPr>
        <p:spPr>
          <a:xfrm rot="10800000">
            <a:off x="6858000" y="5349240"/>
            <a:ext cx="429768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4"/>
          <p:cNvCxnSpPr/>
          <p:nvPr/>
        </p:nvCxnSpPr>
        <p:spPr>
          <a:xfrm rot="10800000">
            <a:off x="6858000" y="1042416"/>
            <a:ext cx="0" cy="4306824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8778240" y="1664208"/>
            <a:ext cx="0" cy="292608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4"/>
          <p:cNvCxnSpPr/>
          <p:nvPr/>
        </p:nvCxnSpPr>
        <p:spPr>
          <a:xfrm>
            <a:off x="8778240" y="1664208"/>
            <a:ext cx="118872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4"/>
          <p:cNvCxnSpPr/>
          <p:nvPr/>
        </p:nvCxnSpPr>
        <p:spPr>
          <a:xfrm>
            <a:off x="8778240" y="4590288"/>
            <a:ext cx="1161288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4"/>
          <p:cNvSpPr/>
          <p:nvPr/>
        </p:nvSpPr>
        <p:spPr>
          <a:xfrm>
            <a:off x="7324344" y="1591056"/>
            <a:ext cx="347472" cy="347472"/>
          </a:xfrm>
          <a:prstGeom prst="rect">
            <a:avLst/>
          </a:prstGeom>
          <a:solidFill>
            <a:srgbClr val="F7D46A"/>
          </a:solidFill>
          <a:ln cap="flat" cmpd="sng" w="12700">
            <a:solidFill>
              <a:srgbClr val="B8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0451592" y="1591056"/>
            <a:ext cx="347472" cy="347472"/>
          </a:xfrm>
          <a:prstGeom prst="rect">
            <a:avLst/>
          </a:prstGeom>
          <a:solidFill>
            <a:srgbClr val="F7D46A"/>
          </a:solidFill>
          <a:ln cap="flat" cmpd="sng" w="12700">
            <a:solidFill>
              <a:srgbClr val="B8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0515600" y="4590288"/>
            <a:ext cx="347472" cy="347472"/>
          </a:xfrm>
          <a:prstGeom prst="rect">
            <a:avLst/>
          </a:prstGeom>
          <a:solidFill>
            <a:srgbClr val="F7D46A"/>
          </a:solidFill>
          <a:ln cap="flat" cmpd="sng" w="12700">
            <a:solidFill>
              <a:srgbClr val="B8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110728" y="4864608"/>
            <a:ext cx="347472" cy="347472"/>
          </a:xfrm>
          <a:prstGeom prst="rect">
            <a:avLst/>
          </a:prstGeom>
          <a:solidFill>
            <a:srgbClr val="F7D46A"/>
          </a:solidFill>
          <a:ln cap="flat" cmpd="sng" w="12700">
            <a:solidFill>
              <a:srgbClr val="B8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5" name="Google Shape;35;p4"/>
          <p:cNvCxnSpPr/>
          <p:nvPr/>
        </p:nvCxnSpPr>
        <p:spPr>
          <a:xfrm flipH="1" rot="10800000">
            <a:off x="7772400" y="4434840"/>
            <a:ext cx="822960" cy="219456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4"/>
          <p:cNvCxnSpPr/>
          <p:nvPr/>
        </p:nvCxnSpPr>
        <p:spPr>
          <a:xfrm>
            <a:off x="8595360" y="4434840"/>
            <a:ext cx="1463040" cy="64008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4"/>
          <p:cNvCxnSpPr/>
          <p:nvPr/>
        </p:nvCxnSpPr>
        <p:spPr>
          <a:xfrm flipH="1" rot="10800000">
            <a:off x="10058400" y="2231136"/>
            <a:ext cx="457200" cy="2267712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4"/>
          <p:cNvCxnSpPr/>
          <p:nvPr/>
        </p:nvCxnSpPr>
        <p:spPr>
          <a:xfrm rot="10800000">
            <a:off x="9418320" y="2075688"/>
            <a:ext cx="1097280" cy="155448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4"/>
          <p:cNvCxnSpPr/>
          <p:nvPr/>
        </p:nvCxnSpPr>
        <p:spPr>
          <a:xfrm flipH="1">
            <a:off x="7589520" y="2075688"/>
            <a:ext cx="1828800" cy="155448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4"/>
          <p:cNvCxnSpPr/>
          <p:nvPr/>
        </p:nvCxnSpPr>
        <p:spPr>
          <a:xfrm>
            <a:off x="7589520" y="2231136"/>
            <a:ext cx="182880" cy="242316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4"/>
          <p:cNvSpPr/>
          <p:nvPr/>
        </p:nvSpPr>
        <p:spPr>
          <a:xfrm rot="5400000">
            <a:off x="10332720" y="1316736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pared derecha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196328" y="5074920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cajas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104888" y="4681728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robot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 rot="1200000">
            <a:off x="7836408" y="4498848"/>
            <a:ext cx="292608" cy="292608"/>
          </a:xfrm>
          <a:prstGeom prst="triangle">
            <a:avLst>
              <a:gd fmla="val 50000" name="adj"/>
            </a:avLst>
          </a:prstGeom>
          <a:solidFill>
            <a:srgbClr val="76D7C4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749808" y="4434840"/>
            <a:ext cx="5074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Objetivo: que el robot recorra el laberinto siguiendo la pared derecha, detectando cajas y evitando choques.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4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Problema del reto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Qué debía lograr el robot dentro del laberinto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40080" y="1143000"/>
            <a:ext cx="5074920" cy="4663440"/>
          </a:xfrm>
          <a:prstGeom prst="roundRect">
            <a:avLst>
              <a:gd fmla="val 1569" name="adj"/>
            </a:avLst>
          </a:prstGeom>
          <a:solidFill>
            <a:srgbClr val="10161D"/>
          </a:solidFill>
          <a:ln cap="flat" cmpd="sng" w="12700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6" name="Google Shape;56;p5"/>
          <p:cNvCxnSpPr/>
          <p:nvPr/>
        </p:nvCxnSpPr>
        <p:spPr>
          <a:xfrm>
            <a:off x="960120" y="1527048"/>
            <a:ext cx="443484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5"/>
          <p:cNvCxnSpPr/>
          <p:nvPr/>
        </p:nvCxnSpPr>
        <p:spPr>
          <a:xfrm>
            <a:off x="5394960" y="1527048"/>
            <a:ext cx="0" cy="3895344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5"/>
          <p:cNvCxnSpPr/>
          <p:nvPr/>
        </p:nvCxnSpPr>
        <p:spPr>
          <a:xfrm rot="10800000">
            <a:off x="960120" y="5422392"/>
            <a:ext cx="443484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5"/>
          <p:cNvCxnSpPr/>
          <p:nvPr/>
        </p:nvCxnSpPr>
        <p:spPr>
          <a:xfrm rot="10800000">
            <a:off x="960120" y="1527048"/>
            <a:ext cx="0" cy="3895344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5"/>
          <p:cNvCxnSpPr/>
          <p:nvPr/>
        </p:nvCxnSpPr>
        <p:spPr>
          <a:xfrm>
            <a:off x="2880360" y="2148840"/>
            <a:ext cx="0" cy="251460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5"/>
          <p:cNvCxnSpPr/>
          <p:nvPr/>
        </p:nvCxnSpPr>
        <p:spPr>
          <a:xfrm>
            <a:off x="2880360" y="2148840"/>
            <a:ext cx="118872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5"/>
          <p:cNvCxnSpPr/>
          <p:nvPr/>
        </p:nvCxnSpPr>
        <p:spPr>
          <a:xfrm>
            <a:off x="2880360" y="4663440"/>
            <a:ext cx="1161288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4445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5"/>
          <p:cNvSpPr/>
          <p:nvPr/>
        </p:nvSpPr>
        <p:spPr>
          <a:xfrm>
            <a:off x="1426464" y="2075688"/>
            <a:ext cx="347472" cy="347472"/>
          </a:xfrm>
          <a:prstGeom prst="rect">
            <a:avLst/>
          </a:prstGeom>
          <a:solidFill>
            <a:srgbClr val="F7D46A"/>
          </a:solidFill>
          <a:ln cap="flat" cmpd="sng" w="12700">
            <a:solidFill>
              <a:srgbClr val="B8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4690872" y="2075688"/>
            <a:ext cx="347472" cy="347472"/>
          </a:xfrm>
          <a:prstGeom prst="rect">
            <a:avLst/>
          </a:prstGeom>
          <a:solidFill>
            <a:srgbClr val="F7D46A"/>
          </a:solidFill>
          <a:ln cap="flat" cmpd="sng" w="12700">
            <a:solidFill>
              <a:srgbClr val="B8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4754880" y="4663440"/>
            <a:ext cx="347472" cy="347472"/>
          </a:xfrm>
          <a:prstGeom prst="rect">
            <a:avLst/>
          </a:prstGeom>
          <a:solidFill>
            <a:srgbClr val="F7D46A"/>
          </a:solidFill>
          <a:ln cap="flat" cmpd="sng" w="12700">
            <a:solidFill>
              <a:srgbClr val="B8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2212848" y="4937760"/>
            <a:ext cx="347472" cy="347472"/>
          </a:xfrm>
          <a:prstGeom prst="rect">
            <a:avLst/>
          </a:prstGeom>
          <a:solidFill>
            <a:srgbClr val="F7D46A"/>
          </a:solidFill>
          <a:ln cap="flat" cmpd="sng" w="12700">
            <a:solidFill>
              <a:srgbClr val="B89C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" name="Google Shape;67;p5"/>
          <p:cNvCxnSpPr/>
          <p:nvPr/>
        </p:nvCxnSpPr>
        <p:spPr>
          <a:xfrm flipH="1" rot="10800000">
            <a:off x="1874520" y="4507992"/>
            <a:ext cx="822960" cy="219456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5"/>
          <p:cNvCxnSpPr/>
          <p:nvPr/>
        </p:nvCxnSpPr>
        <p:spPr>
          <a:xfrm>
            <a:off x="2697480" y="4507992"/>
            <a:ext cx="1600200" cy="64008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5"/>
          <p:cNvCxnSpPr/>
          <p:nvPr/>
        </p:nvCxnSpPr>
        <p:spPr>
          <a:xfrm flipH="1" rot="10800000">
            <a:off x="4297680" y="2715768"/>
            <a:ext cx="457200" cy="1856232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5"/>
          <p:cNvCxnSpPr/>
          <p:nvPr/>
        </p:nvCxnSpPr>
        <p:spPr>
          <a:xfrm rot="10800000">
            <a:off x="3520440" y="2560320"/>
            <a:ext cx="1234440" cy="155448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5"/>
          <p:cNvCxnSpPr/>
          <p:nvPr/>
        </p:nvCxnSpPr>
        <p:spPr>
          <a:xfrm flipH="1">
            <a:off x="1691640" y="2560320"/>
            <a:ext cx="1828800" cy="155448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5"/>
          <p:cNvCxnSpPr/>
          <p:nvPr/>
        </p:nvCxnSpPr>
        <p:spPr>
          <a:xfrm>
            <a:off x="1691640" y="2715768"/>
            <a:ext cx="182880" cy="201168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9200">
            <a:solidFill>
              <a:srgbClr val="76D7C4">
                <a:alpha val="96078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" name="Google Shape;73;p5"/>
          <p:cNvSpPr/>
          <p:nvPr/>
        </p:nvSpPr>
        <p:spPr>
          <a:xfrm rot="5400000">
            <a:off x="4572000" y="1801368"/>
            <a:ext cx="896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pared derecha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98448" y="514807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cajas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07008" y="4754880"/>
            <a:ext cx="640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robot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5"/>
          <p:cNvSpPr/>
          <p:nvPr/>
        </p:nvSpPr>
        <p:spPr>
          <a:xfrm rot="1200000">
            <a:off x="1938528" y="4572000"/>
            <a:ext cx="292608" cy="292608"/>
          </a:xfrm>
          <a:prstGeom prst="triangle">
            <a:avLst>
              <a:gd fmla="val 50000" name="adj"/>
            </a:avLst>
          </a:prstGeom>
          <a:solidFill>
            <a:srgbClr val="76D7C4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400800" y="1417320"/>
            <a:ext cx="48920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Reconocer paredes con el sensor LiDAR.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Mantener una distancia estable respecto a la pared derecha.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Detectar cajas sin confundirlas con paredes.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900"/>
              <a:buFont typeface="Arial"/>
              <a:buChar char="•"/>
            </a:pPr>
            <a:r>
              <a:rPr b="0" i="0" lang="en-US" sz="19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Girar en esquinas y continuar el recorrido varias vueltas.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446520" y="4315968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Regla principal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446520" y="4590288"/>
            <a:ext cx="44348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“Seguir la pared derecha con una distancia de seguridad”.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Arquitectura ROS2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Flujo de datos usado por el robot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77240" y="1874520"/>
            <a:ext cx="1371600" cy="82296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76D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LiDAR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/sensor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2743200" y="1874520"/>
            <a:ext cx="1554480" cy="822960"/>
          </a:xfrm>
          <a:prstGeom prst="rect">
            <a:avLst/>
          </a:prstGeom>
          <a:solidFill>
            <a:srgbClr val="10161D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/scan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LaserScan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983480" y="1664208"/>
            <a:ext cx="2011680" cy="123444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1FB6A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Nodo Reto 3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procesamiento + FSM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726680" y="1874520"/>
            <a:ext cx="1508760" cy="822960"/>
          </a:xfrm>
          <a:prstGeom prst="rect">
            <a:avLst/>
          </a:prstGeom>
          <a:solidFill>
            <a:srgbClr val="10161D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/cmd_vel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Twist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921240" y="1874520"/>
            <a:ext cx="1463040" cy="82296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76D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Motores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Yahboom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6"/>
          <p:cNvCxnSpPr/>
          <p:nvPr/>
        </p:nvCxnSpPr>
        <p:spPr>
          <a:xfrm>
            <a:off x="2148840" y="2286000"/>
            <a:ext cx="59436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5" name="Google Shape;95;p6"/>
          <p:cNvCxnSpPr/>
          <p:nvPr/>
        </p:nvCxnSpPr>
        <p:spPr>
          <a:xfrm>
            <a:off x="4297680" y="2286000"/>
            <a:ext cx="68580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6" name="Google Shape;96;p6"/>
          <p:cNvCxnSpPr/>
          <p:nvPr/>
        </p:nvCxnSpPr>
        <p:spPr>
          <a:xfrm>
            <a:off x="6995160" y="2286000"/>
            <a:ext cx="73152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97" name="Google Shape;97;p6"/>
          <p:cNvCxnSpPr/>
          <p:nvPr/>
        </p:nvCxnSpPr>
        <p:spPr>
          <a:xfrm>
            <a:off x="9235440" y="2286000"/>
            <a:ext cx="68580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98" name="Google Shape;98;p6"/>
          <p:cNvSpPr/>
          <p:nvPr/>
        </p:nvSpPr>
        <p:spPr>
          <a:xfrm>
            <a:off x="3291840" y="4114800"/>
            <a:ext cx="1508760" cy="822960"/>
          </a:xfrm>
          <a:prstGeom prst="rect">
            <a:avLst/>
          </a:prstGeom>
          <a:solidFill>
            <a:srgbClr val="10161D"/>
          </a:solidFill>
          <a:ln cap="flat" cmpd="sng" w="12700">
            <a:solidFill>
              <a:srgbClr val="75A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Odometry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/odom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995160" y="4114800"/>
            <a:ext cx="1920240" cy="822960"/>
          </a:xfrm>
          <a:prstGeom prst="rect">
            <a:avLst/>
          </a:prstGeom>
          <a:solidFill>
            <a:srgbClr val="10161D"/>
          </a:solidFill>
          <a:ln cap="flat" cmpd="sng" w="12700">
            <a:solidFill>
              <a:srgbClr val="FFB1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Cajas detectadas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memoria / conteo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6"/>
          <p:cNvCxnSpPr/>
          <p:nvPr/>
        </p:nvCxnSpPr>
        <p:spPr>
          <a:xfrm flipH="1" rot="10800000">
            <a:off x="4800600" y="2907792"/>
            <a:ext cx="667512" cy="1618488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5A7F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01" name="Google Shape;101;p6"/>
          <p:cNvCxnSpPr/>
          <p:nvPr/>
        </p:nvCxnSpPr>
        <p:spPr>
          <a:xfrm>
            <a:off x="6400800" y="2880360"/>
            <a:ext cx="1234440" cy="123444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FFB15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02" name="Google Shape;102;p6"/>
          <p:cNvSpPr/>
          <p:nvPr/>
        </p:nvSpPr>
        <p:spPr>
          <a:xfrm>
            <a:off x="960120" y="5504688"/>
            <a:ext cx="10287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El sistema es reactivo: cada lectura del LiDAR actualiza el estado y publica una velocidad segura.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6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Lectura del LiDAR por sectores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Se separa el escaneo para decidir el movimiento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31520" y="1097280"/>
            <a:ext cx="4937760" cy="4846320"/>
          </a:xfrm>
          <a:prstGeom prst="roundRect">
            <a:avLst>
              <a:gd fmla="val 1509" name="adj"/>
            </a:avLst>
          </a:prstGeom>
          <a:solidFill>
            <a:srgbClr val="10161D"/>
          </a:solidFill>
          <a:ln cap="flat" cmpd="sng" w="12700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1280160" y="1890979"/>
            <a:ext cx="3840480" cy="38404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0161D">
              <a:alpha val="0"/>
            </a:srgbClr>
          </a:solidFill>
          <a:ln cap="flat" cmpd="sng" w="12700">
            <a:solidFill>
              <a:srgbClr val="34424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965960" y="2576779"/>
            <a:ext cx="2468880" cy="246888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10161D">
              <a:alpha val="0"/>
            </a:srgbClr>
          </a:solidFill>
          <a:ln cap="flat" cmpd="sng" w="12700">
            <a:solidFill>
              <a:srgbClr val="34424E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5" name="Google Shape;115;p7"/>
          <p:cNvCxnSpPr/>
          <p:nvPr/>
        </p:nvCxnSpPr>
        <p:spPr>
          <a:xfrm rot="10800000">
            <a:off x="3200400" y="2165299"/>
            <a:ext cx="0" cy="164592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5400">
            <a:solidFill>
              <a:srgbClr val="FF6B6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6" name="Google Shape;116;p7"/>
          <p:cNvCxnSpPr/>
          <p:nvPr/>
        </p:nvCxnSpPr>
        <p:spPr>
          <a:xfrm>
            <a:off x="3200400" y="3811219"/>
            <a:ext cx="1463040" cy="27432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5400">
            <a:solidFill>
              <a:srgbClr val="8BE28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17" name="Google Shape;117;p7"/>
          <p:cNvCxnSpPr/>
          <p:nvPr/>
        </p:nvCxnSpPr>
        <p:spPr>
          <a:xfrm flipH="1">
            <a:off x="1737360" y="3811219"/>
            <a:ext cx="1463040" cy="27432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5400">
            <a:solidFill>
              <a:srgbClr val="75A7F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8" name="Google Shape;118;p7"/>
          <p:cNvSpPr/>
          <p:nvPr/>
        </p:nvSpPr>
        <p:spPr>
          <a:xfrm>
            <a:off x="3035808" y="3628339"/>
            <a:ext cx="329184" cy="329184"/>
          </a:xfrm>
          <a:prstGeom prst="triangle">
            <a:avLst>
              <a:gd fmla="val 50000" name="adj"/>
            </a:avLst>
          </a:prstGeom>
          <a:solidFill>
            <a:srgbClr val="76D7C4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2670048" y="1936699"/>
            <a:ext cx="10515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6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6B6B"/>
                </a:solidFill>
                <a:latin typeface="Arial"/>
                <a:ea typeface="Arial"/>
                <a:cs typeface="Arial"/>
                <a:sym typeface="Arial"/>
              </a:rPr>
              <a:t>FRENTE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26280" y="4314139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E28B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8BE28B"/>
                </a:solidFill>
                <a:latin typeface="Arial"/>
                <a:ea typeface="Arial"/>
                <a:cs typeface="Arial"/>
                <a:sym typeface="Arial"/>
              </a:rPr>
              <a:t>DER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261872" y="4314139"/>
            <a:ext cx="594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5A7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75A7FF"/>
                </a:solidFill>
                <a:latin typeface="Arial"/>
                <a:ea typeface="Arial"/>
                <a:cs typeface="Arial"/>
                <a:sym typeface="Arial"/>
              </a:rPr>
              <a:t>IZQ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00800" y="11430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Sectores usados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6400800" y="1737360"/>
            <a:ext cx="2194560" cy="777240"/>
          </a:xfrm>
          <a:prstGeom prst="rect">
            <a:avLst/>
          </a:prstGeom>
          <a:solidFill>
            <a:srgbClr val="10161D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FRENTE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obstáculo o esquina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9006840" y="1737360"/>
            <a:ext cx="2194560" cy="777240"/>
          </a:xfrm>
          <a:prstGeom prst="rect">
            <a:avLst/>
          </a:prstGeom>
          <a:solidFill>
            <a:srgbClr val="10161D"/>
          </a:solidFill>
          <a:ln cap="flat" cmpd="sng" w="12700">
            <a:solidFill>
              <a:srgbClr val="8BE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DERECHA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referencia de pared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400800" y="2788920"/>
            <a:ext cx="2194560" cy="777240"/>
          </a:xfrm>
          <a:prstGeom prst="rect">
            <a:avLst/>
          </a:prstGeom>
          <a:solidFill>
            <a:srgbClr val="10161D"/>
          </a:solidFill>
          <a:ln cap="flat" cmpd="sng" w="12700">
            <a:solidFill>
              <a:srgbClr val="75A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IZQUIERDA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espacio alternativo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9006840" y="2788920"/>
            <a:ext cx="2194560" cy="777240"/>
          </a:xfrm>
          <a:prstGeom prst="rect">
            <a:avLst/>
          </a:prstGeom>
          <a:solidFill>
            <a:srgbClr val="10161D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CAJA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cluster pequeño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446520" y="4160520"/>
            <a:ext cx="47548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Las lecturas infinitas o inválidas se reemplazan por un rango seguro.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 toma la distancia mínima de cada sector.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La decisión se actualiza muchas veces por segundo.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7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Lógica de navegación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Máquina de estados para moverse sin chocar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822960" y="1828800"/>
            <a:ext cx="1920240" cy="86868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BUSCAR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PARED DERECHA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657600" y="1828800"/>
            <a:ext cx="2011680" cy="86868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76D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SEGUIR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PARED DERECHA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629400" y="1828800"/>
            <a:ext cx="2011680" cy="86868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EVITAR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PARED FRENTE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9464040" y="1828800"/>
            <a:ext cx="1920240" cy="86868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8BE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CONTINUAR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RECORRIDO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1" name="Google Shape;141;p8"/>
          <p:cNvCxnSpPr/>
          <p:nvPr/>
        </p:nvCxnSpPr>
        <p:spPr>
          <a:xfrm>
            <a:off x="2743200" y="2267712"/>
            <a:ext cx="91440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2" name="Google Shape;142;p8"/>
          <p:cNvCxnSpPr/>
          <p:nvPr/>
        </p:nvCxnSpPr>
        <p:spPr>
          <a:xfrm>
            <a:off x="5669280" y="2267712"/>
            <a:ext cx="96012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3" name="Google Shape;143;p8"/>
          <p:cNvCxnSpPr/>
          <p:nvPr/>
        </p:nvCxnSpPr>
        <p:spPr>
          <a:xfrm>
            <a:off x="8641080" y="2267712"/>
            <a:ext cx="82296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44" name="Google Shape;144;p8"/>
          <p:cNvCxnSpPr/>
          <p:nvPr/>
        </p:nvCxnSpPr>
        <p:spPr>
          <a:xfrm flipH="1">
            <a:off x="4572000" y="2697480"/>
            <a:ext cx="5852160" cy="146304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AAB7C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5" name="Google Shape;145;p8"/>
          <p:cNvSpPr/>
          <p:nvPr/>
        </p:nvSpPr>
        <p:spPr>
          <a:xfrm>
            <a:off x="914400" y="397764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Condiciones principales</a:t>
            </a:r>
            <a:endParaRPr b="0" i="0" sz="1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960120" y="443484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Si frente está libre: avanza.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Si derecha está lejos: se acerca suavemente.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Si derecha está cerca: se aleja suavemente.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Si frente está bloqueado: gira a la izquierda.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6583680" y="4297680"/>
            <a:ext cx="45720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Esta FSM evita que el robot quede detenido: siempre tiene una acción segura.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Control de distancia a la pared derecha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Corrección suave con error y giro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85800" y="1234440"/>
            <a:ext cx="4754880" cy="4343400"/>
          </a:xfrm>
          <a:prstGeom prst="roundRect">
            <a:avLst>
              <a:gd fmla="val 1684" name="adj"/>
            </a:avLst>
          </a:prstGeom>
          <a:solidFill>
            <a:srgbClr val="10161D"/>
          </a:solidFill>
          <a:ln cap="flat" cmpd="sng" w="12700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4754880" y="1417320"/>
            <a:ext cx="164592" cy="3886200"/>
          </a:xfrm>
          <a:prstGeom prst="rect">
            <a:avLst/>
          </a:prstGeom>
          <a:solidFill>
            <a:srgbClr val="B4894C"/>
          </a:solidFill>
          <a:ln cap="flat" cmpd="sng" w="12700">
            <a:solidFill>
              <a:srgbClr val="B489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 rot="5400000">
            <a:off x="2194560" y="2971800"/>
            <a:ext cx="411480" cy="411480"/>
          </a:xfrm>
          <a:prstGeom prst="triangle">
            <a:avLst>
              <a:gd fmla="val 50000" name="adj"/>
            </a:avLst>
          </a:prstGeom>
          <a:solidFill>
            <a:srgbClr val="76D7C4"/>
          </a:solidFill>
          <a:ln cap="flat" cmpd="sng" w="101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0" name="Google Shape;160;p9"/>
          <p:cNvCxnSpPr/>
          <p:nvPr/>
        </p:nvCxnSpPr>
        <p:spPr>
          <a:xfrm>
            <a:off x="2606040" y="3172968"/>
            <a:ext cx="214884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25400">
            <a:solidFill>
              <a:srgbClr val="F7D46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1" name="Google Shape;161;p9"/>
          <p:cNvSpPr/>
          <p:nvPr/>
        </p:nvSpPr>
        <p:spPr>
          <a:xfrm>
            <a:off x="3090672" y="2816352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distancia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derecha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9"/>
          <p:cNvSpPr/>
          <p:nvPr/>
        </p:nvSpPr>
        <p:spPr>
          <a:xfrm rot="5400000">
            <a:off x="5532120" y="3200400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pared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6172200" y="1371600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Fórmula usada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172200" y="19659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error = distancia_derecha − distancia_deseada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172200" y="25146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giro = KP·error + KD·derivada</a:t>
            </a:r>
            <a:endParaRPr b="0" i="0" sz="16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6217920" y="3429000"/>
            <a:ext cx="47548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KP corrige la distancia actual.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KD reduce cambios bruscos y oscilaciones.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La velocidad angular se limita para proteger el robot.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6400800" y="5166360"/>
            <a:ext cx="18288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0.35–0.40 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400800" y="564184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distancia objetivo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732520" y="5166360"/>
            <a:ext cx="19202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0.08–0.11 m/s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8732520" y="5641848"/>
            <a:ext cx="1920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avance seguro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9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Detección de cajas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Separación de objetos pequeños frente a paredes largas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731520" y="1234440"/>
            <a:ext cx="4846320" cy="4526280"/>
          </a:xfrm>
          <a:prstGeom prst="roundRect">
            <a:avLst>
              <a:gd fmla="val 1616" name="adj"/>
            </a:avLst>
          </a:prstGeom>
          <a:solidFill>
            <a:srgbClr val="10161D"/>
          </a:solidFill>
          <a:ln cap="flat" cmpd="sng" w="12700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1097280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1261872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1426464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1591056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1755648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920240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2084832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2249424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2414016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2578608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2743200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2907792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3072384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3236976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3401568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3566160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3730752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3895344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4059936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4224528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4389120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553712" y="1874520"/>
            <a:ext cx="41148" cy="41148"/>
          </a:xfrm>
          <a:prstGeom prst="ellipse">
            <a:avLst/>
          </a:prstGeom>
          <a:solidFill>
            <a:srgbClr val="AAB7C1"/>
          </a:solidFill>
          <a:ln cap="flat" cmpd="sng" w="12700">
            <a:solidFill>
              <a:srgbClr val="AAB7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2816352" y="3886200"/>
            <a:ext cx="50292" cy="50292"/>
          </a:xfrm>
          <a:prstGeom prst="ellipse">
            <a:avLst/>
          </a:prstGeom>
          <a:solidFill>
            <a:srgbClr val="F7D46A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2698655" y="4040088"/>
            <a:ext cx="50292" cy="50292"/>
          </a:xfrm>
          <a:prstGeom prst="ellipse">
            <a:avLst/>
          </a:prstGeom>
          <a:solidFill>
            <a:srgbClr val="F7D46A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2453773" y="4052492"/>
            <a:ext cx="50292" cy="50292"/>
          </a:xfrm>
          <a:prstGeom prst="ellipse">
            <a:avLst/>
          </a:prstGeom>
          <a:solidFill>
            <a:srgbClr val="F7D46A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2306850" y="3912008"/>
            <a:ext cx="50292" cy="50292"/>
          </a:xfrm>
          <a:prstGeom prst="ellipse">
            <a:avLst/>
          </a:prstGeom>
          <a:solidFill>
            <a:srgbClr val="F7D46A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2392966" y="3747796"/>
            <a:ext cx="50292" cy="50292"/>
          </a:xfrm>
          <a:prstGeom prst="ellipse">
            <a:avLst/>
          </a:prstGeom>
          <a:solidFill>
            <a:srgbClr val="F7D46A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2632947" y="3710832"/>
            <a:ext cx="50292" cy="50292"/>
          </a:xfrm>
          <a:prstGeom prst="ellipse">
            <a:avLst/>
          </a:prstGeom>
          <a:solidFill>
            <a:srgbClr val="F7D46A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2806154" y="3835100"/>
            <a:ext cx="50292" cy="50292"/>
          </a:xfrm>
          <a:prstGeom prst="ellipse">
            <a:avLst/>
          </a:prstGeom>
          <a:solidFill>
            <a:srgbClr val="F7D46A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2753343" y="4006350"/>
            <a:ext cx="50292" cy="50292"/>
          </a:xfrm>
          <a:prstGeom prst="ellipse">
            <a:avLst/>
          </a:prstGeom>
          <a:solidFill>
            <a:srgbClr val="F7D46A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78992" y="1508760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pared: muchos puntos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1965960" y="425196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caja: cluster corto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6172200" y="1280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Criterios del algoritmo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6199632" y="1874520"/>
            <a:ext cx="48920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20"/>
              <a:buFont typeface="Arial"/>
              <a:buChar char="•"/>
            </a:pPr>
            <a:r>
              <a:rPr b="0" i="0" lang="en-US" sz="152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 forman clusters cuando hay saltos de distancia.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20"/>
              <a:buFont typeface="Arial"/>
              <a:buChar char="•"/>
            </a:pPr>
            <a:r>
              <a:rPr b="0" i="0" lang="en-US" sz="152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 descartan grupos demasiado grandes porque suelen ser paredes.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20"/>
              <a:buFont typeface="Arial"/>
              <a:buChar char="•"/>
            </a:pPr>
            <a:r>
              <a:rPr b="0" i="0" lang="en-US" sz="152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 acepta una caja si su ancho está dentro de un rango esperado.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20"/>
              <a:buFont typeface="Arial"/>
              <a:buChar char="•"/>
            </a:pPr>
            <a:r>
              <a:rPr b="0" i="0" lang="en-US" sz="152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 evita contar la misma caja dos veces usando memoria de posiciones.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6217920" y="4709160"/>
            <a:ext cx="4572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Resultado esperado: el robot puede recorrer el laberinto y registrar cajas cercanas sin detenerse.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10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1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Implementación del código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Separación por funciones y módulos para que sea entendible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22960" y="1600200"/>
            <a:ext cx="2240280" cy="91440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75A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lidar_utils.py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limpieza + sectores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3657600" y="1600200"/>
            <a:ext cx="2240280" cy="91440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box_detector.py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clusters + conteo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6492240" y="1600200"/>
            <a:ext cx="2240280" cy="91440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76D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wall_follower.py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control PD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9326880" y="1600200"/>
            <a:ext cx="2240280" cy="91440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8BE2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reto3_node.py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FSM + ROS2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9" name="Google Shape;229;p11"/>
          <p:cNvCxnSpPr/>
          <p:nvPr/>
        </p:nvCxnSpPr>
        <p:spPr>
          <a:xfrm>
            <a:off x="3063240" y="2057400"/>
            <a:ext cx="59436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p11"/>
          <p:cNvCxnSpPr/>
          <p:nvPr/>
        </p:nvCxnSpPr>
        <p:spPr>
          <a:xfrm>
            <a:off x="5897880" y="2057400"/>
            <a:ext cx="59436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p11"/>
          <p:cNvCxnSpPr/>
          <p:nvPr/>
        </p:nvCxnSpPr>
        <p:spPr>
          <a:xfrm>
            <a:off x="8732520" y="2057400"/>
            <a:ext cx="594360" cy="0"/>
          </a:xfrm>
          <a:prstGeom prst="straightConnector1">
            <a:avLst/>
          </a:prstGeom>
          <a:solidFill>
            <a:srgbClr val="0B0F14">
              <a:alpha val="0"/>
            </a:srgbClr>
          </a:solidFill>
          <a:ln cap="flat" cmpd="sng" w="15225">
            <a:solidFill>
              <a:srgbClr val="76D7C4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2" name="Google Shape;232;p11"/>
          <p:cNvSpPr/>
          <p:nvPr/>
        </p:nvSpPr>
        <p:spPr>
          <a:xfrm>
            <a:off x="914400" y="32461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Funciones principales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960120" y="3703320"/>
            <a:ext cx="38404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obtener_sectores()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detectar_cajas()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seguir_pared_derecha()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decidir_movimiento()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publicar_velocidad()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852160" y="324612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Ventaja de dividir el código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5897880" y="3703320"/>
            <a:ext cx="493776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 entiende mejor en exposición.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Permite probar cada parte por separado.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50"/>
              <a:buFont typeface="Arial"/>
              <a:buChar char="•"/>
            </a:pPr>
            <a:r>
              <a:rPr b="0" i="0" lang="en-US" sz="155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Hace más fácil calibrar distancias y velocidades.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1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Prueba y diagnóstico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La ventana confirma recorrido, sensores y estado del robot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image.png" id="245" name="Google Shape;245;p12"/>
          <p:cNvPicPr preferRelativeResize="0"/>
          <p:nvPr/>
        </p:nvPicPr>
        <p:blipFill rotWithShape="1">
          <a:blip r:embed="rId3">
            <a:alphaModFix/>
          </a:blip>
          <a:srcRect b="7000" l="0" r="37938" t="0"/>
          <a:stretch/>
        </p:blipFill>
        <p:spPr>
          <a:xfrm>
            <a:off x="685800" y="1170432"/>
            <a:ext cx="6080760" cy="4892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12"/>
          <p:cNvSpPr/>
          <p:nvPr/>
        </p:nvSpPr>
        <p:spPr>
          <a:xfrm>
            <a:off x="7178040" y="1207008"/>
            <a:ext cx="4251960" cy="4800600"/>
          </a:xfrm>
          <a:prstGeom prst="roundRect">
            <a:avLst>
              <a:gd fmla="val 1720" name="adj"/>
            </a:avLst>
          </a:prstGeom>
          <a:solidFill>
            <a:srgbClr val="10161D"/>
          </a:solidFill>
          <a:ln cap="flat" cmpd="sng" w="12700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7479792" y="16002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Qué muestra el reporte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7516368" y="2148840"/>
            <a:ext cx="35204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20"/>
              <a:buFont typeface="Arial"/>
              <a:buChar char="•"/>
            </a:pPr>
            <a:r>
              <a:rPr b="0" i="0" lang="en-US" sz="142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Recorrido estimado a partir de /cmd_vel.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20"/>
              <a:buFont typeface="Arial"/>
              <a:buChar char="•"/>
            </a:pPr>
            <a:r>
              <a:rPr b="0" i="0" lang="en-US" sz="142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Estado antes de pausar: seguir pared o centrar pasillo.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20"/>
              <a:buFont typeface="Arial"/>
              <a:buChar char="•"/>
            </a:pPr>
            <a:r>
              <a:rPr b="0" i="0" lang="en-US" sz="142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Distancia frontal y ancho de pasillo.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20"/>
              <a:buFont typeface="Arial"/>
              <a:buChar char="•"/>
            </a:pPr>
            <a:r>
              <a:rPr b="0" i="0" lang="en-US" sz="142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Conteo de esquinas y cajas detectadas.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420"/>
              <a:buFont typeface="Arial"/>
              <a:buChar char="•"/>
            </a:pPr>
            <a:r>
              <a:rPr b="0" i="0" lang="en-US" sz="142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Historial de frente, error y giro angular.</a:t>
            </a:r>
            <a:endParaRPr b="0" i="0" sz="14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7543800" y="4681728"/>
            <a:ext cx="14630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8–10 m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7543800" y="51572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recorrido observado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9372600" y="4681728"/>
            <a:ext cx="13716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30+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9372600" y="5157216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esquinas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2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3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Calibración para completar las vueltas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Parámetros que más influyen en el comportamiento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822960" y="1325880"/>
            <a:ext cx="3108960" cy="384048"/>
          </a:xfrm>
          <a:prstGeom prst="rect">
            <a:avLst/>
          </a:prstGeom>
          <a:solidFill>
            <a:srgbClr val="10161D"/>
          </a:solidFill>
          <a:ln cap="flat" cmpd="sng" w="9525">
            <a:solidFill>
              <a:srgbClr val="76D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Distancia derecha deseada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4069080" y="1325880"/>
            <a:ext cx="1828800" cy="384048"/>
          </a:xfrm>
          <a:prstGeom prst="rect">
            <a:avLst/>
          </a:prstGeom>
          <a:solidFill>
            <a:srgbClr val="141A22"/>
          </a:solidFill>
          <a:ln cap="flat" cmpd="sng" w="9525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0.35–0.40 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6080760" y="1325880"/>
            <a:ext cx="5074920" cy="384048"/>
          </a:xfrm>
          <a:prstGeom prst="rect">
            <a:avLst/>
          </a:prstGeom>
          <a:solidFill>
            <a:srgbClr val="10161D"/>
          </a:solidFill>
          <a:ln cap="flat" cmpd="sng" w="9525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Ajusta qué tan pegado va a la pared.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822960" y="2075688"/>
            <a:ext cx="3108960" cy="384048"/>
          </a:xfrm>
          <a:prstGeom prst="rect">
            <a:avLst/>
          </a:prstGeom>
          <a:solidFill>
            <a:srgbClr val="10161D"/>
          </a:solidFill>
          <a:ln cap="flat" cmpd="sng" w="9525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Velocidad de avance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4069080" y="2075688"/>
            <a:ext cx="1828800" cy="384048"/>
          </a:xfrm>
          <a:prstGeom prst="rect">
            <a:avLst/>
          </a:prstGeom>
          <a:solidFill>
            <a:srgbClr val="141A22"/>
          </a:solidFill>
          <a:ln cap="flat" cmpd="sng" w="9525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0.08–0.11 m/s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6080760" y="2075688"/>
            <a:ext cx="5074920" cy="384048"/>
          </a:xfrm>
          <a:prstGeom prst="rect">
            <a:avLst/>
          </a:prstGeom>
          <a:solidFill>
            <a:srgbClr val="10161D"/>
          </a:solidFill>
          <a:ln cap="flat" cmpd="sng" w="9525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Más lento = menos choques y menos oscilación.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822960" y="2825496"/>
            <a:ext cx="3108960" cy="384048"/>
          </a:xfrm>
          <a:prstGeom prst="rect">
            <a:avLst/>
          </a:prstGeom>
          <a:solidFill>
            <a:srgbClr val="10161D"/>
          </a:solidFill>
          <a:ln cap="flat" cmpd="sng" w="9525">
            <a:solidFill>
              <a:srgbClr val="76D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Distancia frontal segura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4069080" y="2825496"/>
            <a:ext cx="1828800" cy="384048"/>
          </a:xfrm>
          <a:prstGeom prst="rect">
            <a:avLst/>
          </a:prstGeom>
          <a:solidFill>
            <a:srgbClr val="141A22"/>
          </a:solidFill>
          <a:ln cap="flat" cmpd="sng" w="9525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0.38–0.45 m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6080760" y="2825496"/>
            <a:ext cx="5074920" cy="384048"/>
          </a:xfrm>
          <a:prstGeom prst="rect">
            <a:avLst/>
          </a:prstGeom>
          <a:solidFill>
            <a:srgbClr val="10161D"/>
          </a:solidFill>
          <a:ln cap="flat" cmpd="sng" w="9525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Define cuándo empieza a girar en esquina.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822960" y="3575304"/>
            <a:ext cx="3108960" cy="384048"/>
          </a:xfrm>
          <a:prstGeom prst="rect">
            <a:avLst/>
          </a:prstGeom>
          <a:solidFill>
            <a:srgbClr val="10161D"/>
          </a:solidFill>
          <a:ln cap="flat" cmpd="sng" w="9525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Velocidad de giro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4069080" y="3575304"/>
            <a:ext cx="1828800" cy="384048"/>
          </a:xfrm>
          <a:prstGeom prst="rect">
            <a:avLst/>
          </a:prstGeom>
          <a:solidFill>
            <a:srgbClr val="141A22"/>
          </a:solidFill>
          <a:ln cap="flat" cmpd="sng" w="9525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7D46A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7D46A"/>
                </a:solidFill>
                <a:latin typeface="Arial"/>
                <a:ea typeface="Arial"/>
                <a:cs typeface="Arial"/>
                <a:sym typeface="Arial"/>
              </a:rPr>
              <a:t>0.45–0.55 rad/s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6080760" y="3575304"/>
            <a:ext cx="5074920" cy="384048"/>
          </a:xfrm>
          <a:prstGeom prst="rect">
            <a:avLst/>
          </a:prstGeom>
          <a:solidFill>
            <a:srgbClr val="10161D"/>
          </a:solidFill>
          <a:ln cap="flat" cmpd="sng" w="9525">
            <a:solidFill>
              <a:srgbClr val="34424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Giro más firme para salir de esquinas.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868680" y="49834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Diagnóstico inicial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868680" y="5367528"/>
            <a:ext cx="10149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Si no completaba 3 vueltas, el problema no era el LiDAR: faltaba ajustar distancia, giro en esquinas y estabilidad del seguimiento derecho.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CapyTown · Reto 3 LiDAR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594360" y="3200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F2F5F7"/>
                </a:solidFill>
                <a:latin typeface="Play"/>
                <a:ea typeface="Play"/>
                <a:cs typeface="Play"/>
                <a:sym typeface="Play"/>
              </a:rPr>
              <a:t>Conclusiones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621792" y="8046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Resultado final del Nuevo Reto 3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822960" y="1417320"/>
            <a:ext cx="2377440" cy="91440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75A7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LiDAR funcional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lecturas en /scan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3566160" y="1417320"/>
            <a:ext cx="2377440" cy="91440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76D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Seguimiento derecho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distancia controlada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6309360" y="1417320"/>
            <a:ext cx="2377440" cy="91440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Evasión de paredes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giro en esquinas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9052560" y="1417320"/>
            <a:ext cx="2377440" cy="914400"/>
          </a:xfrm>
          <a:prstGeom prst="rect">
            <a:avLst/>
          </a:prstGeom>
          <a:solidFill>
            <a:srgbClr val="141A22"/>
          </a:solidFill>
          <a:ln cap="flat" cmpd="sng" w="12700">
            <a:solidFill>
              <a:srgbClr val="F7D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25" lIns="625" spcFirstLastPara="1" rIns="625" wrap="square" tIns="6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Detección de cajas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conteo por clusters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1005840" y="3063240"/>
            <a:ext cx="100584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F5F7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2F5F7"/>
                </a:solidFill>
                <a:latin typeface="Arial"/>
                <a:ea typeface="Arial"/>
                <a:cs typeface="Arial"/>
                <a:sym typeface="Arial"/>
              </a:rPr>
              <a:t>El robot ya puede recorrer el laberinto de forma autónoma, usando decisiones reactivas basadas en el LiDAR.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1234440" y="4279392"/>
            <a:ext cx="9692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5" lIns="375" spcFirstLastPara="1" rIns="375" wrap="square" tIns="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6D7C4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6D7C4"/>
                </a:solidFill>
                <a:latin typeface="Arial"/>
                <a:ea typeface="Arial"/>
                <a:cs typeface="Arial"/>
                <a:sym typeface="Arial"/>
              </a:rPr>
              <a:t>Mejora propuesta: añadir contador robusto de vueltas usando zona inicial, odometría o patrón de esquinas para detenerse exactamente al completar 3 vueltas.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4"/>
          <p:cNvSpPr/>
          <p:nvPr/>
        </p:nvSpPr>
        <p:spPr>
          <a:xfrm>
            <a:off x="594360" y="6537960"/>
            <a:ext cx="4114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7C1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AB7C1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4"/>
          <p:cNvSpPr txBox="1"/>
          <p:nvPr>
            <p:ph idx="4294967295" type="sldNum"/>
          </p:nvPr>
        </p:nvSpPr>
        <p:spPr>
          <a:xfrm>
            <a:off x="11155680" y="6547104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8EA3A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8EA3A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